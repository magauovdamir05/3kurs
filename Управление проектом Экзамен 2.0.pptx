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95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5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35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562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996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15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4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82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414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762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550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8F3BA-65FA-4D82-BF51-EE40898C3906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6AD73-B7CB-4628-93CE-E03EE0217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556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6656" y="457200"/>
            <a:ext cx="107990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РЕСПУБЛИКИ КАЗАХСТАН​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СЕВЕРО-КАЗАХСТАНСКИЙ УНИВЕРСИТЕТ​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ИМ. М. КОЗЫБАЕВА​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ИНЖЕНЕРИИ И ЦИФРОВЫХ ТЕХНОЛОГИЙ​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"ИНФОРМАЦИОННО-КОММУНИКАЦИОННЫЕ ТЕХНОЛОГИИ"​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301240"/>
            <a:ext cx="10799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ТВОРЧЕСКИЙ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ЭКЗАМЕН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kk-KZ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ПРОЕКТОМ»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43216" y="4732127"/>
            <a:ext cx="35021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fontAlgn="base"/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Балтабаев Е.А.</a:t>
            </a:r>
          </a:p>
          <a:p>
            <a:pPr algn="r" fontAlgn="base"/>
            <a:r>
              <a:rPr lang="ru-RU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Магауов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Д.Ж.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29056" y="457363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ИС-22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028188" y="598743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base"/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Петропавловск, 2025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9056" y="2929604"/>
            <a:ext cx="10799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«ИНФОРМАЦИОННАЯ СИСТЕМА «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WARPOINT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281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5694" y="361764"/>
            <a:ext cx="4746171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0" y="946539"/>
            <a:ext cx="9006839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539750"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плана управления IT-проектом по созданию информационной системы для арены виртуальной реальности «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Warpoint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», включающего устав, структуру работ, график реализации, оценку рисков, бюджет и программу качества, в соответствии с современными стандартами управления проектами.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5693" y="2801086"/>
            <a:ext cx="4746171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0199" y="3403718"/>
            <a:ext cx="9006839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устав IT-проекта.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иерархическую структуру работ (ИСР) и распределить ресурсы по задачам проекта.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Составить базовый календарный план выполнения работ с использованием диаграммы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Ганта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программу обеспечения качества.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идентификацию и анализ рисков, определить вероятность и влияние, а также мероприятия по снижению их последствий.</a:t>
            </a:r>
          </a:p>
          <a:p>
            <a:pPr indent="534988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базовый план по стоимости проекта, включающий расчет трудозатрат, материальных и дополнительных расходов с учётом налогообложения и ограничений бюджета.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ECE163A-8656-4088-B066-A948235B1C58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34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Устав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4217" y="1046593"/>
            <a:ext cx="111482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534988" algn="just"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Название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проекта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spcAft>
                <a:spcPts val="0"/>
              </a:spcAft>
            </a:pPr>
            <a:r>
              <a:rPr lang="kk-KZ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Информационная система – «</a:t>
            </a:r>
            <a:r>
              <a:rPr lang="en-US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Warpoint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 для бронирования игр, заказа еды и проведения </a:t>
            </a: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мероприятий.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 Бизнес-причина возникновения проекта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Производственная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необходимость создания онлайн-системы для бронирования игровых мероприятий. Вручную управлять заявками сложно, что приводит к потере клиентов, ошибкам в бронировании и неудовлетворенности клиентов.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  Бизнес-цель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Создать цифровую платформу для автоматизированного бронирования игровых мероприятий с возможностью обработки заявок, мониторинга загруженности и аналитики, что позволит: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Сократить время обработки заявок по звонку.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Повысить уровень удовлетворенности клиентов.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Увеличить доход за счет роста количества бронирований.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 Требования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удовлетворяющие потребности заказчика и участников проекта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Возможность бронирования через веб- и мобильное приложение.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Автоматическое подтверждение или отклонение заявок.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Поддержка уведомлений через </a:t>
            </a:r>
            <a:r>
              <a:rPr lang="ru-RU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push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-уведомления.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Панель администратора для аналитики, управления расписанием и загрузкой зон.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Высокая надежность и минимальное время простоя системы</a:t>
            </a: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endParaRPr lang="ru-RU" sz="1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091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5705" y="996136"/>
            <a:ext cx="11148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534988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 Расписание основных контрольных событий</a:t>
            </a:r>
          </a:p>
          <a:p>
            <a:pPr marL="540385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540385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2.1. Расписание основных контрольных событий</a:t>
            </a:r>
          </a:p>
          <a:p>
            <a:pPr marL="540385" algn="just">
              <a:spcAft>
                <a:spcPts val="0"/>
              </a:spcAft>
            </a:pP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 algn="just">
              <a:spcAft>
                <a:spcPts val="0"/>
              </a:spcAft>
            </a:pP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186669"/>
              </p:ext>
            </p:extLst>
          </p:nvPr>
        </p:nvGraphicFramePr>
        <p:xfrm>
          <a:off x="1154891" y="1921010"/>
          <a:ext cx="6113780" cy="182645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37715">
                  <a:extLst>
                    <a:ext uri="{9D8B030D-6E8A-4147-A177-3AD203B41FA5}">
                      <a16:colId xmlns:a16="http://schemas.microsoft.com/office/drawing/2014/main" val="3568718753"/>
                    </a:ext>
                  </a:extLst>
                </a:gridCol>
                <a:gridCol w="2037715">
                  <a:extLst>
                    <a:ext uri="{9D8B030D-6E8A-4147-A177-3AD203B41FA5}">
                      <a16:colId xmlns:a16="http://schemas.microsoft.com/office/drawing/2014/main" val="262978077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4138087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Этап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начала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окончания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5083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Диагностика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20.02.2025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18.03.2025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16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требований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19.03.2025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28.03.2025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1770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дизайна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28.03.2025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16.04.2025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6611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17.04.2025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14.05.2025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5707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Развертывание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15.05.2025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22.05.2025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2576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Эксплуатация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23.05.2025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033335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5705" y="3897745"/>
            <a:ext cx="111482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534988" algn="just"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Участники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проекта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Заказчик: Директор арены виртуальной реальности </a:t>
            </a:r>
            <a:r>
              <a:rPr lang="ru-RU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Даиров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К.Ж.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Команда разработки: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2" indent="534988" algn="just">
              <a:buFont typeface="Courier New" panose="02070309020205020404" pitchFamily="49" charset="0"/>
              <a:buChar char="o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Проектный менеджер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2" indent="534988" algn="just">
              <a:buFont typeface="Courier New" panose="02070309020205020404" pitchFamily="49" charset="0"/>
              <a:buChar char="o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Разработчики (</a:t>
            </a:r>
            <a:r>
              <a:rPr lang="ru-RU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2" indent="534988" algn="just">
              <a:buFont typeface="Courier New" panose="02070309020205020404" pitchFamily="49" charset="0"/>
              <a:buChar char="o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UI/UX дизайнер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2" indent="534988" algn="just">
              <a:buFont typeface="Courier New" panose="02070309020205020404" pitchFamily="49" charset="0"/>
              <a:buChar char="o"/>
            </a:pPr>
            <a:r>
              <a:rPr lang="ru-RU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Тестировщик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Администраторы системы: Контролируют бронирования.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Пользователи: Клиенты, бронирующие игры.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1379" y="150729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Устав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49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327" y="949909"/>
            <a:ext cx="111482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534988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 Окружение проекта</a:t>
            </a:r>
          </a:p>
          <a:p>
            <a:pPr indent="540385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Внутренние организационные факторы: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Готовность команды к выполнению проекта. У команды есть опыт в разработке информационных систем и веб-приложений.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Наличие ресурсов: Специалисты, бюджет, серверные мощности для хостинга системы.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Заинтересованность заказчика: Организация готова внедрять цифровые решения для оптимизации бизнес-процессов.</a:t>
            </a:r>
          </a:p>
          <a:p>
            <a:pPr indent="540385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Внешние организационные факторы:</a:t>
            </a:r>
          </a:p>
          <a:p>
            <a:pPr lvl="0" indent="534988" algn="just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Рыночные тенденции: Спрос на автоматизацию бронирования растет, но есть конкуренция.</a:t>
            </a:r>
          </a:p>
          <a:p>
            <a:pPr lvl="0" indent="534988" algn="just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Юридические нормы: Соблюдение законодательства.</a:t>
            </a:r>
          </a:p>
          <a:p>
            <a:pPr lvl="0" indent="534988" algn="just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Конкуренты: Аналогичные платформы бронирования.</a:t>
            </a:r>
          </a:p>
          <a:p>
            <a:pPr lvl="0" indent="534988" algn="just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Потребители: Клиенты, которые хотят провести мероприятия.</a:t>
            </a:r>
          </a:p>
          <a:p>
            <a:pPr indent="540385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Благоприятные факторы: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Рост интереса к онлайн-бронированию.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Инвестиционная поддержка проекта.</a:t>
            </a:r>
          </a:p>
          <a:p>
            <a:pPr indent="540385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Неблагоприятные факторы: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Риски, связанные с отказами серверов или </a:t>
            </a:r>
            <a:r>
              <a:rPr lang="ru-RU" sz="1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кибератаками</a:t>
            </a: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Возможное сопротивление сотрудников заказчика внедрению новой системы.</a:t>
            </a:r>
          </a:p>
          <a:p>
            <a:pPr lvl="0" indent="534988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Допущения относительно организации и окружения, а также внешние допущения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Заказчик выделит необходимый бюджет и ресурсы.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Команда проекта обладает достаточными компетенциями для успешной реализации.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Организация-заказчик предоставит доступ к данным и процессам для интеграции</a:t>
            </a: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Устав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14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910" y="649430"/>
            <a:ext cx="1114829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534988" algn="just"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 Ограничения относительно организации и окружения, а также внешние ограничения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Бюджет проекта не должен увеличиваться более чем на 25%.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менее 50% членов команды должны работать на проекте полный рабочий день.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Срок запуска платформы не позднее 23.05.2025.</a:t>
            </a: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Проект должен соответствовать требованиям ИТ-безопасности и законодательным нормам</a:t>
            </a: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Объем денежных средств, выделенных на достижение бизнес-цели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реализацию проекта организация-заказчик готова выделить 1 000 000 тенге. Эта сумма охватывает: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Разработку веб- и мобильного приложения –  500 000 тенге.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Закупку серверных мощностей и облачной инфраструктуры – 300 000 тенге.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Маркетинг, тестирование и сопровождение проекта – 200 000 тенге.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Допускается отклонение бюджета в пределах -20% до +100%, в зависимости от дополнительных требований и возможных рисков в процессе реализации.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11. Назначение руководителей проекта и общее определение полномочий ключевых членов проектной команды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Менеджер проекта: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Назначается официально после подписания устава проекта.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Отвечает за общее планирование, контроль выполнения задач, соблюдение бюджета и сроков.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Объединяет усилия всех участников проекта, координирует работу команды.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Взаимодействует с заказчиком, следит за выполнением его требований.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Бизнес-аналитик: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Формирует требования к системе на основе пожеланий заказчика.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Анализирует конкурентную среду и предлагает оптимальные решения.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 algn="just"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Представитель заказчика: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Участвует в формировании бизнес-целей проекта.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Утверждает ключевые решения по функционалу, интерфейсу и приоритетам</a:t>
            </a: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418" y="64655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Устав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216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4145" y="719832"/>
            <a:ext cx="1114829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Принимает участие в тестировании и приемке проекта.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Является связующим звеном между заказчиком и командой проекта.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Может инициировать изменения, согласовывает корректировки бюджета или сроков</a:t>
            </a: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 smtClean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 lvl="0" algn="just"/>
            <a:r>
              <a:rPr lang="en-US" sz="16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Frontend-</a:t>
            </a: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разработчик: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Отвечает за реализацию пользовательского интерфейса.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Интегрирует пользовательскую часть с сервером через API.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Участвует в техническом проектировании и обсуждении архитектуры.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Обеспечивает корректную работу функционала 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Вносит правки по результатам тестирования.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 lvl="0" algn="just"/>
            <a:r>
              <a:rPr lang="ru-RU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-разработчик: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Реализует серверную часть системы, включая обработку заявок, авторизацию, хранение данных.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Создает и документирует REST API для взаимодействия с клиентской частью.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Обеспечивает безопасность и отказоустойчивость серверной архитектуры.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Участвует в тестировании на стороне сервера и в устранении багов.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 lvl="0" algn="just"/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UI/UX-дизайнер: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Разрабатывает макеты экранов приложения и интерфейсов.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Отвечает за удобство и визуальную привлекательность пользовательского опыта.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Участвует в согласовании макетов с заказчиком и командой.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Предоставляет </a:t>
            </a:r>
            <a:r>
              <a:rPr lang="ru-RU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гайдлайны</a:t>
            </a: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разработчику (цвета, шрифты, размеры, взаимодействия).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 lvl="0" algn="just"/>
            <a:r>
              <a:rPr lang="ru-RU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Тестировщик</a:t>
            </a: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Разрабатывает и проводит сценарии функционального, регрессионного и нагрузочного тестирования.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Отслеживает и документирует найденные ошибки.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Проверяет устранение дефектов и соответствие </a:t>
            </a:r>
            <a:r>
              <a:rPr lang="ru-RU" sz="16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требованиям.</a:t>
            </a:r>
            <a:endParaRPr lang="ru-RU" sz="1200" dirty="0" smtClean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534988" algn="just">
              <a:buFont typeface="Symbol" panose="05050102010706020507" pitchFamily="18" charset="2"/>
              <a:buChar char=""/>
            </a:pPr>
            <a:r>
              <a:rPr lang="ru-RU" sz="16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Участвует </a:t>
            </a: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 приемке продукта перед релизом</a:t>
            </a:r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9891" y="135057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Устав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87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Иерархическая структура работ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367447" y="1138092"/>
            <a:ext cx="5641831" cy="5070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211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Базовый календарный план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28"/>
          <a:stretch/>
        </p:blipFill>
        <p:spPr bwMode="auto">
          <a:xfrm>
            <a:off x="3482109" y="1434608"/>
            <a:ext cx="5440218" cy="40056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8208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качества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5709" y="895927"/>
            <a:ext cx="11139055" cy="1655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 (Ответственный) – выполняет задачу. 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(Курирующий) – несет ответственность за выполнение и принимает решения. 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 (Консультативный) – участвует в обсуждении, но не принимает решения. 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(Информированный) – получает информацию о ходе работы. 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 (Проверяющий) – проводит контроль качества. 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 (Утверждающий) – утверждает результат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067924"/>
              </p:ext>
            </p:extLst>
          </p:nvPr>
        </p:nvGraphicFramePr>
        <p:xfrm>
          <a:off x="535709" y="2641309"/>
          <a:ext cx="11139057" cy="350211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257964">
                  <a:extLst>
                    <a:ext uri="{9D8B030D-6E8A-4147-A177-3AD203B41FA5}">
                      <a16:colId xmlns:a16="http://schemas.microsoft.com/office/drawing/2014/main" val="1921500227"/>
                    </a:ext>
                  </a:extLst>
                </a:gridCol>
                <a:gridCol w="2382982">
                  <a:extLst>
                    <a:ext uri="{9D8B030D-6E8A-4147-A177-3AD203B41FA5}">
                      <a16:colId xmlns:a16="http://schemas.microsoft.com/office/drawing/2014/main" val="2284828686"/>
                    </a:ext>
                  </a:extLst>
                </a:gridCol>
                <a:gridCol w="1607127">
                  <a:extLst>
                    <a:ext uri="{9D8B030D-6E8A-4147-A177-3AD203B41FA5}">
                      <a16:colId xmlns:a16="http://schemas.microsoft.com/office/drawing/2014/main" val="566716525"/>
                    </a:ext>
                  </a:extLst>
                </a:gridCol>
                <a:gridCol w="517236">
                  <a:extLst>
                    <a:ext uri="{9D8B030D-6E8A-4147-A177-3AD203B41FA5}">
                      <a16:colId xmlns:a16="http://schemas.microsoft.com/office/drawing/2014/main" val="2870778953"/>
                    </a:ext>
                  </a:extLst>
                </a:gridCol>
                <a:gridCol w="572655">
                  <a:extLst>
                    <a:ext uri="{9D8B030D-6E8A-4147-A177-3AD203B41FA5}">
                      <a16:colId xmlns:a16="http://schemas.microsoft.com/office/drawing/2014/main" val="1351325470"/>
                    </a:ext>
                  </a:extLst>
                </a:gridCol>
                <a:gridCol w="378691">
                  <a:extLst>
                    <a:ext uri="{9D8B030D-6E8A-4147-A177-3AD203B41FA5}">
                      <a16:colId xmlns:a16="http://schemas.microsoft.com/office/drawing/2014/main" val="392116072"/>
                    </a:ext>
                  </a:extLst>
                </a:gridCol>
                <a:gridCol w="397163">
                  <a:extLst>
                    <a:ext uri="{9D8B030D-6E8A-4147-A177-3AD203B41FA5}">
                      <a16:colId xmlns:a16="http://schemas.microsoft.com/office/drawing/2014/main" val="3887861883"/>
                    </a:ext>
                  </a:extLst>
                </a:gridCol>
                <a:gridCol w="341746">
                  <a:extLst>
                    <a:ext uri="{9D8B030D-6E8A-4147-A177-3AD203B41FA5}">
                      <a16:colId xmlns:a16="http://schemas.microsoft.com/office/drawing/2014/main" val="2942526514"/>
                    </a:ext>
                  </a:extLst>
                </a:gridCol>
                <a:gridCol w="378691">
                  <a:extLst>
                    <a:ext uri="{9D8B030D-6E8A-4147-A177-3AD203B41FA5}">
                      <a16:colId xmlns:a16="http://schemas.microsoft.com/office/drawing/2014/main" val="2086963323"/>
                    </a:ext>
                  </a:extLst>
                </a:gridCol>
                <a:gridCol w="304802">
                  <a:extLst>
                    <a:ext uri="{9D8B030D-6E8A-4147-A177-3AD203B41FA5}">
                      <a16:colId xmlns:a16="http://schemas.microsoft.com/office/drawing/2014/main" val="1093624346"/>
                    </a:ext>
                  </a:extLst>
                </a:gridCol>
              </a:tblGrid>
              <a:tr h="103796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Элемент ИСР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Стандарт качества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Задача обеспечения качества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 gridSpan="7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Матрица ответственности 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142209"/>
                  </a:ext>
                </a:extLst>
              </a:tr>
              <a:tr h="121894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</a:t>
                      </a:r>
                      <a:r>
                        <a:rPr lang="ru-RU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разработчик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 vert="vert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</a:t>
                      </a:r>
                      <a:r>
                        <a:rPr lang="ru-RU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разработчик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 vert="vert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UI/UX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 vert="vert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Тестировщик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 vert="vert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Аналитик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 vert="vert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Менеджер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 vert="vert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Заказчик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 vert="vert"/>
                </a:tc>
                <a:extLst>
                  <a:ext uri="{0D108BD9-81ED-4DB2-BD59-A6C34878D82A}">
                    <a16:rowId xmlns:a16="http://schemas.microsoft.com/office/drawing/2014/main" val="1021723892"/>
                  </a:ext>
                </a:extLst>
              </a:tr>
              <a:tr h="4151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Определение ключевых требований к системе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Соответствие требованиям заказчика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Сбор требований и согласование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extLst>
                  <a:ext uri="{0D108BD9-81ED-4DB2-BD59-A6C34878D82A}">
                    <a16:rowId xmlns:a16="http://schemas.microsoft.com/office/drawing/2014/main" val="4083700905"/>
                  </a:ext>
                </a:extLst>
              </a:tr>
              <a:tr h="51897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текущих бизнес-процессов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Оптимизация процессов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и документация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extLst>
                  <a:ext uri="{0D108BD9-81ED-4DB2-BD59-A6C34878D82A}">
                    <a16:rowId xmlns:a16="http://schemas.microsoft.com/office/drawing/2014/main" val="2636100516"/>
                  </a:ext>
                </a:extLst>
              </a:tr>
              <a:tr h="6227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инфраструктуры и технических возможностей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Соответствие возможностям системы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и аудит инфраструктуры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extLst>
                  <a:ext uri="{0D108BD9-81ED-4DB2-BD59-A6C34878D82A}">
                    <a16:rowId xmlns:a16="http://schemas.microsoft.com/office/drawing/2014/main" val="2285623185"/>
                  </a:ext>
                </a:extLst>
              </a:tr>
              <a:tr h="4151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и утверждение устава проекта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Утвержденный устав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Согласование документа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182" marR="31182" marT="0" marB="0"/>
                </a:tc>
                <a:extLst>
                  <a:ext uri="{0D108BD9-81ED-4DB2-BD59-A6C34878D82A}">
                    <a16:rowId xmlns:a16="http://schemas.microsoft.com/office/drawing/2014/main" val="2095947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22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045304"/>
              </p:ext>
            </p:extLst>
          </p:nvPr>
        </p:nvGraphicFramePr>
        <p:xfrm>
          <a:off x="484908" y="1241704"/>
          <a:ext cx="11406909" cy="467938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39883">
                  <a:extLst>
                    <a:ext uri="{9D8B030D-6E8A-4147-A177-3AD203B41FA5}">
                      <a16:colId xmlns:a16="http://schemas.microsoft.com/office/drawing/2014/main" val="709013025"/>
                    </a:ext>
                  </a:extLst>
                </a:gridCol>
                <a:gridCol w="2551545">
                  <a:extLst>
                    <a:ext uri="{9D8B030D-6E8A-4147-A177-3AD203B41FA5}">
                      <a16:colId xmlns:a16="http://schemas.microsoft.com/office/drawing/2014/main" val="804716048"/>
                    </a:ext>
                  </a:extLst>
                </a:gridCol>
                <a:gridCol w="2664113">
                  <a:extLst>
                    <a:ext uri="{9D8B030D-6E8A-4147-A177-3AD203B41FA5}">
                      <a16:colId xmlns:a16="http://schemas.microsoft.com/office/drawing/2014/main" val="2119538113"/>
                    </a:ext>
                  </a:extLst>
                </a:gridCol>
                <a:gridCol w="318944">
                  <a:extLst>
                    <a:ext uri="{9D8B030D-6E8A-4147-A177-3AD203B41FA5}">
                      <a16:colId xmlns:a16="http://schemas.microsoft.com/office/drawing/2014/main" val="739805093"/>
                    </a:ext>
                  </a:extLst>
                </a:gridCol>
                <a:gridCol w="347085">
                  <a:extLst>
                    <a:ext uri="{9D8B030D-6E8A-4147-A177-3AD203B41FA5}">
                      <a16:colId xmlns:a16="http://schemas.microsoft.com/office/drawing/2014/main" val="2180034231"/>
                    </a:ext>
                  </a:extLst>
                </a:gridCol>
                <a:gridCol w="310718">
                  <a:extLst>
                    <a:ext uri="{9D8B030D-6E8A-4147-A177-3AD203B41FA5}">
                      <a16:colId xmlns:a16="http://schemas.microsoft.com/office/drawing/2014/main" val="4120526369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404013877"/>
                    </a:ext>
                  </a:extLst>
                </a:gridCol>
                <a:gridCol w="267854">
                  <a:extLst>
                    <a:ext uri="{9D8B030D-6E8A-4147-A177-3AD203B41FA5}">
                      <a16:colId xmlns:a16="http://schemas.microsoft.com/office/drawing/2014/main" val="2214053396"/>
                    </a:ext>
                  </a:extLst>
                </a:gridCol>
                <a:gridCol w="295564">
                  <a:extLst>
                    <a:ext uri="{9D8B030D-6E8A-4147-A177-3AD203B41FA5}">
                      <a16:colId xmlns:a16="http://schemas.microsoft.com/office/drawing/2014/main" val="3047551194"/>
                    </a:ext>
                  </a:extLst>
                </a:gridCol>
                <a:gridCol w="341748">
                  <a:extLst>
                    <a:ext uri="{9D8B030D-6E8A-4147-A177-3AD203B41FA5}">
                      <a16:colId xmlns:a16="http://schemas.microsoft.com/office/drawing/2014/main" val="3663226768"/>
                    </a:ext>
                  </a:extLst>
                </a:gridCol>
              </a:tblGrid>
              <a:tr h="35098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и утверждение устава </a:t>
                      </a:r>
                      <a:r>
                        <a:rPr lang="ru-RU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Утвержденный устав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Согласование документа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895523059"/>
                  </a:ext>
                </a:extLst>
              </a:tr>
              <a:tr h="45466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Проведение встреч с ключевыми пользователями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Обратная связь от пользователей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Проведение интервью и анкетирование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3907393320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Детальный анализ функциональных </a:t>
                      </a:r>
                      <a:r>
                        <a:rPr lang="ru-RU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требований</a:t>
                      </a: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Соответствие требованиям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Документирование требований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3576231369"/>
                  </a:ext>
                </a:extLst>
              </a:tr>
              <a:tr h="45492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концептуального дизайна </a:t>
                      </a:r>
                      <a:r>
                        <a:rPr lang="ru-RU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системы</a:t>
                      </a: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UX/UI соответствие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макетов и UX-прототипов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2667296867"/>
                  </a:ext>
                </a:extLst>
              </a:tr>
              <a:tr h="32137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Определение плана и сценариев </a:t>
                      </a:r>
                      <a:r>
                        <a:rPr lang="ru-RU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тестирования</a:t>
                      </a: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Критерии приемки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тест-кейсов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4067212369"/>
                  </a:ext>
                </a:extLst>
              </a:tr>
              <a:tr h="30498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Настройка среды разработки и тестирования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Соответствие требованиям окружения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Развертывание тестовой среды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2736208319"/>
                  </a:ext>
                </a:extLst>
              </a:tr>
              <a:tr h="2978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основных модулей </a:t>
                      </a:r>
                      <a:r>
                        <a:rPr lang="ru-RU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системы</a:t>
                      </a: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 соответствует стандартам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и ревю кода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2508302683"/>
                  </a:ext>
                </a:extLst>
              </a:tr>
              <a:tr h="3091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и утверждение плана </a:t>
                      </a:r>
                      <a:r>
                        <a:rPr lang="ru-RU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запуска</a:t>
                      </a: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 внедрения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Документирование и утверждение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1396511629"/>
                  </a:ext>
                </a:extLst>
              </a:tr>
              <a:tr h="49596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и проведение финального тестирования </a:t>
                      </a:r>
                      <a:r>
                        <a:rPr lang="ru-RU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системы</a:t>
                      </a: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Соответствие ТЗ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Проведение тестов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2728782616"/>
                  </a:ext>
                </a:extLst>
              </a:tr>
              <a:tr h="46372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и проведение тренингов для </a:t>
                      </a:r>
                      <a:r>
                        <a:rPr lang="ru-RU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пользователей</a:t>
                      </a: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Обученные пользователи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Подготовка материалов и обучение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683357863"/>
                  </a:ext>
                </a:extLst>
              </a:tr>
              <a:tr h="45920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Проверка корректности работы системы и окончательная </a:t>
                      </a:r>
                      <a:r>
                        <a:rPr lang="ru-RU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настройка</a:t>
                      </a: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Готовность к эксплуатации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Финальная настройка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209093319"/>
                  </a:ext>
                </a:extLst>
              </a:tr>
              <a:tr h="26972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Приемка системы заказчиком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Соответствие договору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Подписание приемочного акта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806" marR="19806" marT="0" marB="0"/>
                </a:tc>
                <a:extLst>
                  <a:ext uri="{0D108BD9-81ED-4DB2-BD59-A6C34878D82A}">
                    <a16:rowId xmlns:a16="http://schemas.microsoft.com/office/drawing/2014/main" val="370577688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качества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45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040017"/>
              </p:ext>
            </p:extLst>
          </p:nvPr>
        </p:nvGraphicFramePr>
        <p:xfrm>
          <a:off x="507999" y="886692"/>
          <a:ext cx="11176002" cy="543399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56146">
                  <a:extLst>
                    <a:ext uri="{9D8B030D-6E8A-4147-A177-3AD203B41FA5}">
                      <a16:colId xmlns:a16="http://schemas.microsoft.com/office/drawing/2014/main" val="3868692549"/>
                    </a:ext>
                  </a:extLst>
                </a:gridCol>
                <a:gridCol w="1560946">
                  <a:extLst>
                    <a:ext uri="{9D8B030D-6E8A-4147-A177-3AD203B41FA5}">
                      <a16:colId xmlns:a16="http://schemas.microsoft.com/office/drawing/2014/main" val="791464341"/>
                    </a:ext>
                  </a:extLst>
                </a:gridCol>
                <a:gridCol w="1071418">
                  <a:extLst>
                    <a:ext uri="{9D8B030D-6E8A-4147-A177-3AD203B41FA5}">
                      <a16:colId xmlns:a16="http://schemas.microsoft.com/office/drawing/2014/main" val="980247611"/>
                    </a:ext>
                  </a:extLst>
                </a:gridCol>
                <a:gridCol w="2216727">
                  <a:extLst>
                    <a:ext uri="{9D8B030D-6E8A-4147-A177-3AD203B41FA5}">
                      <a16:colId xmlns:a16="http://schemas.microsoft.com/office/drawing/2014/main" val="372765024"/>
                    </a:ext>
                  </a:extLst>
                </a:gridCol>
                <a:gridCol w="2392219">
                  <a:extLst>
                    <a:ext uri="{9D8B030D-6E8A-4147-A177-3AD203B41FA5}">
                      <a16:colId xmlns:a16="http://schemas.microsoft.com/office/drawing/2014/main" val="4209200251"/>
                    </a:ext>
                  </a:extLst>
                </a:gridCol>
                <a:gridCol w="2678546">
                  <a:extLst>
                    <a:ext uri="{9D8B030D-6E8A-4147-A177-3AD203B41FA5}">
                      <a16:colId xmlns:a16="http://schemas.microsoft.com/office/drawing/2014/main" val="339464987"/>
                    </a:ext>
                  </a:extLst>
                </a:gridCol>
              </a:tblGrid>
              <a:tr h="78793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Последствия риска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Стратегия реагирования на риск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Действия по минимизацию 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Реактивные действия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Факты, демонстрирующие релевантность риска для данной бизнес-ситуации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extLst>
                  <a:ext uri="{0D108BD9-81ED-4DB2-BD59-A6C34878D82A}">
                    <a16:rowId xmlns:a16="http://schemas.microsoft.com/office/drawing/2014/main" val="2744950311"/>
                  </a:ext>
                </a:extLst>
              </a:tr>
              <a:tr h="78793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Задержка в разработке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Срыв сроков релиза, увеличение бюджета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Избегание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Четкое планирование,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Agile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-методология, контроль сроков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Привлечение дополнительных разработчиков, пересмотр графика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70% IT-проектов выходят за рамки первоначальных сроков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extLst>
                  <a:ext uri="{0D108BD9-81ED-4DB2-BD59-A6C34878D82A}">
                    <a16:rowId xmlns:a16="http://schemas.microsoft.com/office/drawing/2014/main" val="1599694816"/>
                  </a:ext>
                </a:extLst>
              </a:tr>
              <a:tr h="78793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Технические ошибки и баги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Недовольство пользователей, снижение рейтинга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Снижение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Автоматизированное тестирование, код-ревью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Срочные патчи и обновления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 негативных отзывов приложений связаны с техническими проблемами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extLst>
                  <a:ext uri="{0D108BD9-81ED-4DB2-BD59-A6C34878D82A}">
                    <a16:rowId xmlns:a16="http://schemas.microsoft.com/office/drawing/2014/main" val="4100820836"/>
                  </a:ext>
                </a:extLst>
              </a:tr>
              <a:tr h="78793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Недостаток финансирования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Приостановка разработки, сокращение функционала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Принятие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Оптимизация бюджета, поиск инвесторов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Приостановка менее приоритетных задач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Многие проекты закрываются из-за нехватки средств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extLst>
                  <a:ext uri="{0D108BD9-81ED-4DB2-BD59-A6C34878D82A}">
                    <a16:rowId xmlns:a16="http://schemas.microsoft.com/office/drawing/2014/main" val="2717320042"/>
                  </a:ext>
                </a:extLst>
              </a:tr>
              <a:tr h="77815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Низкий интерес аудитории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Низкие загрузки и доходы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Избегание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Маркетинг, работа с комьюнити, тестирование концепций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Смена стратегии продвижения, обновление приложения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Успех проекта зависит от вовлеченности аудитории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extLst>
                  <a:ext uri="{0D108BD9-81ED-4DB2-BD59-A6C34878D82A}">
                    <a16:rowId xmlns:a16="http://schemas.microsoft.com/office/drawing/2014/main" val="3387107670"/>
                  </a:ext>
                </a:extLst>
              </a:tr>
              <a:tr h="68944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Проблемы с серверами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Пользователи не могут подать заявку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Снижение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Использование облачных решений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Оперативное исправление, масштабирование мощностей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 сбоев связаны с перегрузкой серверов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extLst>
                  <a:ext uri="{0D108BD9-81ED-4DB2-BD59-A6C34878D82A}">
                    <a16:rowId xmlns:a16="http://schemas.microsoft.com/office/drawing/2014/main" val="996564137"/>
                  </a:ext>
                </a:extLst>
              </a:tr>
              <a:tr h="68944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Уход ключевых сотрудников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Задержки в работе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Передача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документации, дублирование компетенций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Найм новых специалистов, перераспределение задач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текучка кадров – распространенная проблема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664" marR="24664" marT="0" marB="0"/>
                </a:tc>
                <a:extLst>
                  <a:ext uri="{0D108BD9-81ED-4DB2-BD59-A6C34878D82A}">
                    <a16:rowId xmlns:a16="http://schemas.microsoft.com/office/drawing/2014/main" val="715501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899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6472" y="914400"/>
            <a:ext cx="11176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4988"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стоимости проекта проведена на основе структуры работ и трудозатрат, рассчитанных по календарному плану. Общий бюджет, утверждённый заказчиком, составляет 1 000 000 тенге, включая фонд оплаты труда, материальные ресурсы, накладные расходы, налоги и сопровождение проекта.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indent="534988"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2.4. Стоимость трудовых ресурсов</a:t>
            </a:r>
          </a:p>
          <a:p>
            <a:pPr algn="just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183620"/>
              </p:ext>
            </p:extLst>
          </p:nvPr>
        </p:nvGraphicFramePr>
        <p:xfrm>
          <a:off x="1089891" y="2484060"/>
          <a:ext cx="8266199" cy="234829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73908">
                  <a:extLst>
                    <a:ext uri="{9D8B030D-6E8A-4147-A177-3AD203B41FA5}">
                      <a16:colId xmlns:a16="http://schemas.microsoft.com/office/drawing/2014/main" val="378217274"/>
                    </a:ext>
                  </a:extLst>
                </a:gridCol>
                <a:gridCol w="2631542">
                  <a:extLst>
                    <a:ext uri="{9D8B030D-6E8A-4147-A177-3AD203B41FA5}">
                      <a16:colId xmlns:a16="http://schemas.microsoft.com/office/drawing/2014/main" val="3229667176"/>
                    </a:ext>
                  </a:extLst>
                </a:gridCol>
                <a:gridCol w="1653583">
                  <a:extLst>
                    <a:ext uri="{9D8B030D-6E8A-4147-A177-3AD203B41FA5}">
                      <a16:colId xmlns:a16="http://schemas.microsoft.com/office/drawing/2014/main" val="4088065264"/>
                    </a:ext>
                  </a:extLst>
                </a:gridCol>
                <a:gridCol w="1653583">
                  <a:extLst>
                    <a:ext uri="{9D8B030D-6E8A-4147-A177-3AD203B41FA5}">
                      <a16:colId xmlns:a16="http://schemas.microsoft.com/office/drawing/2014/main" val="1765384668"/>
                    </a:ext>
                  </a:extLst>
                </a:gridCol>
                <a:gridCol w="1653583">
                  <a:extLst>
                    <a:ext uri="{9D8B030D-6E8A-4147-A177-3AD203B41FA5}">
                      <a16:colId xmlns:a16="http://schemas.microsoft.com/office/drawing/2014/main" val="867620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Специалист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Занятость (%)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Ставка (₸/ч)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Учетная ставка (₸/ч)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3360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Разработчик (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1 425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9562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Backend-разработчик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1 015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1 520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2296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UI/UX дизайнер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200%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1 140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874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Тестировщик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1 050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0094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Аналитик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200%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1 330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2318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Менеджер проекта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200%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1 070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1 605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6761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Представитель заказчика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1 010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1 515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9624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756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3418" y="1020531"/>
            <a:ext cx="1117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4988"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Суммарная трудоёмкость по проекту оценивается в 400–450 человеко-часов, что составляет около 600 000 ₸ (включая налоги, отчисления и переработки).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" y="2244436"/>
            <a:ext cx="3703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2.5. Материальные ресурсы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116487"/>
              </p:ext>
            </p:extLst>
          </p:nvPr>
        </p:nvGraphicFramePr>
        <p:xfrm>
          <a:off x="1403928" y="2690437"/>
          <a:ext cx="3399790" cy="208737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99895">
                  <a:extLst>
                    <a:ext uri="{9D8B030D-6E8A-4147-A177-3AD203B41FA5}">
                      <a16:colId xmlns:a16="http://schemas.microsoft.com/office/drawing/2014/main" val="2539158713"/>
                    </a:ext>
                  </a:extLst>
                </a:gridCol>
                <a:gridCol w="1699895">
                  <a:extLst>
                    <a:ext uri="{9D8B030D-6E8A-4147-A177-3AD203B41FA5}">
                      <a16:colId xmlns:a16="http://schemas.microsoft.com/office/drawing/2014/main" val="133107623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Стоимость (₸)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08718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Серверное оборудование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150 000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8829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Тестовые устройства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75 000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279926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Домен и хостинг на 1 год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10 000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26834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Итого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235 000 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079248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4073" y="2244436"/>
            <a:ext cx="3703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2.6. Дополнительные затраты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912256"/>
              </p:ext>
            </p:extLst>
          </p:nvPr>
        </p:nvGraphicFramePr>
        <p:xfrm>
          <a:off x="6881091" y="2778384"/>
          <a:ext cx="3237230" cy="208737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07515">
                  <a:extLst>
                    <a:ext uri="{9D8B030D-6E8A-4147-A177-3AD203B41FA5}">
                      <a16:colId xmlns:a16="http://schemas.microsoft.com/office/drawing/2014/main" val="704229389"/>
                    </a:ext>
                  </a:extLst>
                </a:gridCol>
                <a:gridCol w="1529715">
                  <a:extLst>
                    <a:ext uri="{9D8B030D-6E8A-4147-A177-3AD203B41FA5}">
                      <a16:colId xmlns:a16="http://schemas.microsoft.com/office/drawing/2014/main" val="2850556023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Категория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Сумма (₸)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42542910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Трудовые ресурсы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~600 000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500468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Материальные ресурсы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235 000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6552254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Дополнительные расходы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~165 000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9623141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сумма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1 000 000 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6117278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314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0B038C-C8E5-46D5-B3BA-30CB5D9464BC}" type="slidenum">
              <a:rPr lang="ru-RU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5709" y="1242204"/>
            <a:ext cx="11176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4988"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 к основным трудовым и материальным затратам проектом предусмотрены операционные расходы, включающие аренду офиса для команды разработки, оплату коммунальных услуг и обязательные налоги. Эти расходы отнесены к категории дополнительных затрат и учтены в общей стоимости проекта:</a:t>
            </a:r>
          </a:p>
          <a:p>
            <a:pPr indent="534988"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	Аренда помещения для команды на период активной разработки (3 месяца) составила ориентировочно 75 000 ₸ в месяц, что дало общую сумму 225 000 ₸;</a:t>
            </a:r>
          </a:p>
          <a:p>
            <a:pPr indent="534988"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	Коммунальные услуги и интернет – около 15 000 ₸ в месяц (всего 45 000 ₸);</a:t>
            </a:r>
          </a:p>
          <a:p>
            <a:pPr indent="534988"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	Налоги и отчисления, включая пенсионные, социальные и обязательные страховые взносы на сотрудников – рассчитаны в пределах 10–12% от фонда оплаты труда, что составляет порядка 70 000–80 000 ₸.</a:t>
            </a:r>
          </a:p>
          <a:p>
            <a:pPr indent="534988"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Эти позиции были объединены в строку «Дополнительные расходы» (см. таблицу 2.6), сумма которых составила ~165 000 ₸. Таким образом, структура затрат отражает не только технические и кадровые расходы, но и фактические эксплуатационные издержки, сопровождающие реализацию проекта.</a:t>
            </a:r>
          </a:p>
          <a:p>
            <a:pPr indent="534988"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итоговый бюджет ~ 1 000 000 ₸ – включает в себя все указанные компоненты: фонд оплаты труда, налоговые и эксплуатационные расходы, закупку оборудования и сопровождение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9891" y="221673"/>
            <a:ext cx="1019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проекта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986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1972</Words>
  <Application>Microsoft Office PowerPoint</Application>
  <PresentationFormat>Широкоэкранный</PresentationFormat>
  <Paragraphs>457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acer</dc:creator>
  <cp:lastModifiedBy>acer</cp:lastModifiedBy>
  <cp:revision>14</cp:revision>
  <dcterms:created xsi:type="dcterms:W3CDTF">2025-05-11T16:25:23Z</dcterms:created>
  <dcterms:modified xsi:type="dcterms:W3CDTF">2025-05-14T08:57:18Z</dcterms:modified>
</cp:coreProperties>
</file>